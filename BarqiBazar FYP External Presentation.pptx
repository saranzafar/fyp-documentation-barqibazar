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League Spartan" charset="1" panose="00000800000000000000"/>
      <p:regular r:id="rId32"/>
    </p:embeddedFont>
    <p:embeddedFont>
      <p:font typeface="Open Sauce Bold" charset="1" panose="00000800000000000000"/>
      <p:regular r:id="rId33"/>
    </p:embeddedFont>
    <p:embeddedFont>
      <p:font typeface="Open Sauce" charset="1" panose="00000500000000000000"/>
      <p:regular r:id="rId34"/>
    </p:embeddedFont>
    <p:embeddedFont>
      <p:font typeface="Open Sauce Light" charset="1" panose="000004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754740" y="9220200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377704" y="1085850"/>
            <a:ext cx="1532591" cy="1532591"/>
          </a:xfrm>
          <a:custGeom>
            <a:avLst/>
            <a:gdLst/>
            <a:ahLst/>
            <a:cxnLst/>
            <a:rect r="r" b="b" t="t" l="l"/>
            <a:pathLst>
              <a:path h="1532591" w="1532591">
                <a:moveTo>
                  <a:pt x="0" y="0"/>
                </a:moveTo>
                <a:lnTo>
                  <a:pt x="1532592" y="0"/>
                </a:lnTo>
                <a:lnTo>
                  <a:pt x="1532592" y="1532591"/>
                </a:lnTo>
                <a:lnTo>
                  <a:pt x="0" y="15325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36889" y="3216273"/>
            <a:ext cx="116142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BarqiBazar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41348" y="7794375"/>
            <a:ext cx="10002873" cy="445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0"/>
              </a:lnSpc>
            </a:pPr>
            <a:r>
              <a:rPr lang="en-US" b="true" sz="281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Supervised By:</a:t>
            </a:r>
            <a:r>
              <a:rPr lang="en-US" sz="281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Dr. Khurram Mustafa Abbasi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42563" y="4630098"/>
            <a:ext cx="10002873" cy="445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0"/>
              </a:lnSpc>
            </a:pPr>
            <a:r>
              <a:rPr lang="en-US" b="true" sz="281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491891" y="5409735"/>
            <a:ext cx="5304217" cy="1864989"/>
            <a:chOff x="0" y="0"/>
            <a:chExt cx="7072290" cy="248665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842411"/>
              <a:ext cx="2988179" cy="583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77"/>
                </a:lnSpc>
              </a:pPr>
              <a:r>
                <a:rPr lang="en-US" sz="3177" spc="-63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 ifraheem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57150"/>
              <a:ext cx="2988179" cy="583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77"/>
                </a:lnSpc>
              </a:pPr>
              <a:r>
                <a:rPr lang="en-US" b="true" sz="3177" spc="-63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Name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902795"/>
              <a:ext cx="2988179" cy="583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77"/>
                </a:lnSpc>
              </a:pPr>
              <a:r>
                <a:rPr lang="en-US" sz="3177" spc="-63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Saran Zafar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084111" y="1902795"/>
              <a:ext cx="2988179" cy="583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77"/>
                </a:lnSpc>
              </a:pPr>
              <a:r>
                <a:rPr lang="en-US" sz="3177" spc="-63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05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084111" y="842411"/>
              <a:ext cx="2988179" cy="583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77"/>
                </a:lnSpc>
              </a:pPr>
              <a:r>
                <a:rPr lang="en-US" sz="3177" spc="-63">
                  <a:solidFill>
                    <a:srgbClr val="00000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17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4084111" y="57150"/>
              <a:ext cx="2988179" cy="583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77"/>
                </a:lnSpc>
              </a:pPr>
              <a:r>
                <a:rPr lang="en-US" b="true" sz="3177" spc="-63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RollNo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6303980" y="-3554680"/>
            <a:ext cx="8416960" cy="841696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73A"/>
            </a:solidFill>
            <a:ln w="38100" cap="sq">
              <a:solidFill>
                <a:srgbClr val="08673A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42785" y="9801225"/>
            <a:ext cx="8416960" cy="841696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5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006450" y="3495631"/>
            <a:ext cx="9551432" cy="445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Project Introduction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Existing Systems vs Our Solution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Objectives &amp; Core System Functions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Project Methodology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Sys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tem Requirements (Functional &amp; Non-Functional)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System Design &amp; Architecture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Implementation, Testing &amp; Deployment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Real-World Deployment, Results &amp; Future Work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8745215" y="9220200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3050820" y="-7388260"/>
            <a:ext cx="8416960" cy="841696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73A"/>
            </a:solidFill>
            <a:ln w="38100" cap="sq">
              <a:solidFill>
                <a:srgbClr val="08673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204750" y="2338114"/>
            <a:ext cx="7687481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Presentation Outline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83920"/>
            <a:ext cx="7914907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08686" y="9124474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96973" y="4772977"/>
            <a:ext cx="489326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08686" y="9124474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AutoShape 4" id="4"/>
          <p:cNvSpPr/>
          <p:nvPr/>
        </p:nvSpPr>
        <p:spPr>
          <a:xfrm>
            <a:off x="8745215" y="9220200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-7388260" y="6305604"/>
            <a:ext cx="8416960" cy="841696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73A"/>
            </a:solidFill>
            <a:ln w="38100" cap="sq">
              <a:solidFill>
                <a:srgbClr val="08673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82987" y="-7899615"/>
            <a:ext cx="8416960" cy="84169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5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300260" y="2054190"/>
            <a:ext cx="7687481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BarqiBazar</a:t>
            </a:r>
            <a:r>
              <a:rPr lang="en-US" sz="559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3920"/>
            <a:ext cx="7914907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8707" y="3588306"/>
            <a:ext cx="15310586" cy="346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Barqi Bazar is a smart commerce platform connecting stores, customers, franchise admins, and riders.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 bridges offline retail operations with online ordering and delivery management.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 offline-capable POS system supports store sales and real-time inventory updates.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Products are published through a controlled proposal and franchise approval workflow.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Customer orders follow a structured process including stock validation and routing.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Delivery is managed using a rider bidding mechanism for efficient assignment.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08686" y="9124474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name="AutoShape 7" id="7"/>
          <p:cNvSpPr/>
          <p:nvPr/>
        </p:nvSpPr>
        <p:spPr>
          <a:xfrm>
            <a:off x="8745215" y="9220200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-389502" y="9255919"/>
            <a:ext cx="8416960" cy="84169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73A"/>
            </a:solidFill>
            <a:ln w="38100" cap="sq">
              <a:solidFill>
                <a:srgbClr val="08673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64365" y="-4761979"/>
            <a:ext cx="8416960" cy="841696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5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92513" y="4719638"/>
            <a:ext cx="9502974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Existing vs Our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08686" y="9124474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name="AutoShape 4" id="4"/>
          <p:cNvSpPr/>
          <p:nvPr/>
        </p:nvSpPr>
        <p:spPr>
          <a:xfrm>
            <a:off x="8745215" y="9220200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-7388260" y="6305604"/>
            <a:ext cx="8416960" cy="841696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73A"/>
            </a:solidFill>
            <a:ln w="38100" cap="sq">
              <a:solidFill>
                <a:srgbClr val="08673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82987" y="-7899615"/>
            <a:ext cx="8416960" cy="84169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5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01877" y="2436618"/>
            <a:ext cx="7368552" cy="5722673"/>
            <a:chOff x="0" y="0"/>
            <a:chExt cx="1940689" cy="15072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40689" cy="1507206"/>
            </a:xfrm>
            <a:custGeom>
              <a:avLst/>
              <a:gdLst/>
              <a:ahLst/>
              <a:cxnLst/>
              <a:rect r="r" b="b" t="t" l="l"/>
              <a:pathLst>
                <a:path h="1507206" w="1940689">
                  <a:moveTo>
                    <a:pt x="53584" y="0"/>
                  </a:moveTo>
                  <a:lnTo>
                    <a:pt x="1887104" y="0"/>
                  </a:lnTo>
                  <a:cubicBezTo>
                    <a:pt x="1901316" y="0"/>
                    <a:pt x="1914945" y="5645"/>
                    <a:pt x="1924994" y="15694"/>
                  </a:cubicBezTo>
                  <a:cubicBezTo>
                    <a:pt x="1935043" y="25743"/>
                    <a:pt x="1940689" y="39373"/>
                    <a:pt x="1940689" y="53584"/>
                  </a:cubicBezTo>
                  <a:lnTo>
                    <a:pt x="1940689" y="1453622"/>
                  </a:lnTo>
                  <a:cubicBezTo>
                    <a:pt x="1940689" y="1467833"/>
                    <a:pt x="1935043" y="1481463"/>
                    <a:pt x="1924994" y="1491512"/>
                  </a:cubicBezTo>
                  <a:cubicBezTo>
                    <a:pt x="1914945" y="1501561"/>
                    <a:pt x="1901316" y="1507206"/>
                    <a:pt x="1887104" y="1507206"/>
                  </a:cubicBezTo>
                  <a:lnTo>
                    <a:pt x="53584" y="1507206"/>
                  </a:lnTo>
                  <a:cubicBezTo>
                    <a:pt x="39373" y="1507206"/>
                    <a:pt x="25743" y="1501561"/>
                    <a:pt x="15694" y="1491512"/>
                  </a:cubicBezTo>
                  <a:cubicBezTo>
                    <a:pt x="5645" y="1481463"/>
                    <a:pt x="0" y="1467833"/>
                    <a:pt x="0" y="1453622"/>
                  </a:cubicBezTo>
                  <a:lnTo>
                    <a:pt x="0" y="53584"/>
                  </a:lnTo>
                  <a:cubicBezTo>
                    <a:pt x="0" y="39373"/>
                    <a:pt x="5645" y="25743"/>
                    <a:pt x="15694" y="15694"/>
                  </a:cubicBezTo>
                  <a:cubicBezTo>
                    <a:pt x="25743" y="5645"/>
                    <a:pt x="39373" y="0"/>
                    <a:pt x="53584" y="0"/>
                  </a:cubicBezTo>
                  <a:close/>
                </a:path>
              </a:pathLst>
            </a:custGeom>
            <a:ln w="38100" cap="rnd">
              <a:solidFill>
                <a:srgbClr val="08673A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1940689" cy="1469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843918" y="2436618"/>
            <a:ext cx="7415382" cy="5722673"/>
            <a:chOff x="0" y="0"/>
            <a:chExt cx="1953023" cy="15072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3022" cy="1507206"/>
            </a:xfrm>
            <a:custGeom>
              <a:avLst/>
              <a:gdLst/>
              <a:ahLst/>
              <a:cxnLst/>
              <a:rect r="r" b="b" t="t" l="l"/>
              <a:pathLst>
                <a:path h="1507206" w="1953022">
                  <a:moveTo>
                    <a:pt x="53246" y="0"/>
                  </a:moveTo>
                  <a:lnTo>
                    <a:pt x="1899777" y="0"/>
                  </a:lnTo>
                  <a:cubicBezTo>
                    <a:pt x="1913898" y="0"/>
                    <a:pt x="1927442" y="5610"/>
                    <a:pt x="1937427" y="15595"/>
                  </a:cubicBezTo>
                  <a:cubicBezTo>
                    <a:pt x="1947413" y="25581"/>
                    <a:pt x="1953022" y="39124"/>
                    <a:pt x="1953022" y="53246"/>
                  </a:cubicBezTo>
                  <a:lnTo>
                    <a:pt x="1953022" y="1453960"/>
                  </a:lnTo>
                  <a:cubicBezTo>
                    <a:pt x="1953022" y="1483367"/>
                    <a:pt x="1929184" y="1507206"/>
                    <a:pt x="1899777" y="1507206"/>
                  </a:cubicBezTo>
                  <a:lnTo>
                    <a:pt x="53246" y="1507206"/>
                  </a:lnTo>
                  <a:cubicBezTo>
                    <a:pt x="39124" y="1507206"/>
                    <a:pt x="25581" y="1501596"/>
                    <a:pt x="15595" y="1491611"/>
                  </a:cubicBezTo>
                  <a:cubicBezTo>
                    <a:pt x="5610" y="1481625"/>
                    <a:pt x="0" y="1468082"/>
                    <a:pt x="0" y="1453960"/>
                  </a:cubicBezTo>
                  <a:lnTo>
                    <a:pt x="0" y="53246"/>
                  </a:lnTo>
                  <a:cubicBezTo>
                    <a:pt x="0" y="23839"/>
                    <a:pt x="23839" y="0"/>
                    <a:pt x="53246" y="0"/>
                  </a:cubicBezTo>
                  <a:close/>
                </a:path>
              </a:pathLst>
            </a:custGeom>
            <a:ln w="38100" cap="rnd">
              <a:solidFill>
                <a:srgbClr val="EF592B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38100"/>
              <a:ext cx="1953023" cy="1469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719130" y="2650664"/>
            <a:ext cx="422203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08673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Existing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48811" y="2684268"/>
            <a:ext cx="420884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EF592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883920"/>
            <a:ext cx="7914907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EXISTING &amp; OUR SYSTEM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94893" y="3184597"/>
            <a:ext cx="6582521" cy="4780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867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POS systems work only for in-store sales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867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 integration between POS and online platforms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867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</a:t>
            </a:r>
            <a:r>
              <a:rPr lang="en-US" b="true" sz="2300">
                <a:solidFill>
                  <a:srgbClr val="0867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ncontrolled product listings reduce quality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867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Weak or manual delivery coordination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867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 stock validation before online orders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867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Lack of multi-city or franchise management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867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Disconnected systems cause delays and errors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124285" y="3375083"/>
            <a:ext cx="7023206" cy="4389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337" indent="-248169" lvl="1">
              <a:lnSpc>
                <a:spcPts val="3218"/>
              </a:lnSpc>
              <a:buFont typeface="Arial"/>
              <a:buChar char="•"/>
            </a:pPr>
            <a:r>
              <a:rPr lang="en-US" b="true" sz="2298">
                <a:solidFill>
                  <a:srgbClr val="EF59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Offline-capable POS integrated with online system</a:t>
            </a:r>
          </a:p>
          <a:p>
            <a:pPr algn="l" marL="496337" indent="-248169" lvl="1">
              <a:lnSpc>
                <a:spcPts val="3218"/>
              </a:lnSpc>
              <a:buFont typeface="Arial"/>
              <a:buChar char="•"/>
            </a:pPr>
            <a:r>
              <a:rPr lang="en-US" b="true" sz="2298">
                <a:solidFill>
                  <a:srgbClr val="EF59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Unified platform for stores, customers, and riders</a:t>
            </a:r>
          </a:p>
          <a:p>
            <a:pPr algn="l" marL="496337" indent="-248169" lvl="1">
              <a:lnSpc>
                <a:spcPts val="3218"/>
              </a:lnSpc>
              <a:buFont typeface="Arial"/>
              <a:buChar char="•"/>
            </a:pPr>
            <a:r>
              <a:rPr lang="en-US" b="true" sz="2298">
                <a:solidFill>
                  <a:srgbClr val="EF59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b="true" sz="2298">
                <a:solidFill>
                  <a:srgbClr val="EF59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ontrolled product proposal and approval workflow</a:t>
            </a:r>
          </a:p>
          <a:p>
            <a:pPr algn="l" marL="496337" indent="-248169" lvl="1">
              <a:lnSpc>
                <a:spcPts val="3218"/>
              </a:lnSpc>
              <a:buFont typeface="Arial"/>
              <a:buChar char="•"/>
            </a:pPr>
            <a:r>
              <a:rPr lang="en-US" b="true" sz="2298">
                <a:solidFill>
                  <a:srgbClr val="EF59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298">
                <a:solidFill>
                  <a:srgbClr val="EF59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tock validation and order routing before confirmation</a:t>
            </a:r>
          </a:p>
          <a:p>
            <a:pPr algn="l" marL="496337" indent="-248169" lvl="1">
              <a:lnSpc>
                <a:spcPts val="3218"/>
              </a:lnSpc>
              <a:buFont typeface="Arial"/>
              <a:buChar char="•"/>
            </a:pPr>
            <a:r>
              <a:rPr lang="en-US" b="true" sz="2298">
                <a:solidFill>
                  <a:srgbClr val="EF59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Rider bidding mechanism for delivery assignment</a:t>
            </a:r>
          </a:p>
          <a:p>
            <a:pPr algn="l" marL="496337" indent="-248169" lvl="1">
              <a:lnSpc>
                <a:spcPts val="3218"/>
              </a:lnSpc>
              <a:buFont typeface="Arial"/>
              <a:buChar char="•"/>
            </a:pPr>
            <a:r>
              <a:rPr lang="en-US" b="true" sz="2298">
                <a:solidFill>
                  <a:srgbClr val="EF59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Franch</a:t>
            </a:r>
            <a:r>
              <a:rPr lang="en-US" b="true" sz="2298">
                <a:solidFill>
                  <a:srgbClr val="EF59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ise and city-based governance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08686" y="9124474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name="AutoShape 15" id="15"/>
          <p:cNvSpPr/>
          <p:nvPr/>
        </p:nvSpPr>
        <p:spPr>
          <a:xfrm>
            <a:off x="8754740" y="9220200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6317780" y="-7571140"/>
            <a:ext cx="8416960" cy="841696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5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-6722067" y="8378366"/>
            <a:ext cx="8416960" cy="841696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7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92513" y="4719638"/>
            <a:ext cx="9502974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Objectives &amp; Functions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08686" y="9124474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</a:t>
            </a:r>
          </a:p>
        </p:txBody>
      </p:sp>
      <p:sp>
        <p:nvSpPr>
          <p:cNvPr name="AutoShape 4" id="4"/>
          <p:cNvSpPr/>
          <p:nvPr/>
        </p:nvSpPr>
        <p:spPr>
          <a:xfrm>
            <a:off x="8745215" y="9220200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727040" y="9724223"/>
            <a:ext cx="8416960" cy="841696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73A"/>
            </a:solidFill>
            <a:ln w="38100" cap="sq">
              <a:solidFill>
                <a:srgbClr val="08673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573625" y="1997208"/>
            <a:ext cx="8416960" cy="84169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5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277895" y="6130619"/>
            <a:ext cx="3086100" cy="2243153"/>
            <a:chOff x="0" y="0"/>
            <a:chExt cx="812800" cy="5907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590789"/>
            </a:xfrm>
            <a:custGeom>
              <a:avLst/>
              <a:gdLst/>
              <a:ahLst/>
              <a:cxnLst/>
              <a:rect r="r" b="b" t="t" l="l"/>
              <a:pathLst>
                <a:path h="5907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62848"/>
                  </a:lnTo>
                  <a:cubicBezTo>
                    <a:pt x="812800" y="496780"/>
                    <a:pt x="799321" y="529323"/>
                    <a:pt x="775327" y="553316"/>
                  </a:cubicBezTo>
                  <a:cubicBezTo>
                    <a:pt x="751333" y="577310"/>
                    <a:pt x="718791" y="590789"/>
                    <a:pt x="684859" y="590789"/>
                  </a:cubicBezTo>
                  <a:lnTo>
                    <a:pt x="127941" y="590789"/>
                  </a:lnTo>
                  <a:cubicBezTo>
                    <a:pt x="94009" y="590789"/>
                    <a:pt x="61467" y="577310"/>
                    <a:pt x="37473" y="553316"/>
                  </a:cubicBezTo>
                  <a:cubicBezTo>
                    <a:pt x="13479" y="529323"/>
                    <a:pt x="0" y="496780"/>
                    <a:pt x="0" y="4628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08673A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812800" cy="543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  <a:r>
                <a:rPr lang="en-US" b="true" sz="2499" spc="-49">
                  <a:solidFill>
                    <a:srgbClr val="08673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Unified Platform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512598" y="6130619"/>
            <a:ext cx="3086100" cy="2243153"/>
            <a:chOff x="0" y="0"/>
            <a:chExt cx="812800" cy="5907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590789"/>
            </a:xfrm>
            <a:custGeom>
              <a:avLst/>
              <a:gdLst/>
              <a:ahLst/>
              <a:cxnLst/>
              <a:rect r="r" b="b" t="t" l="l"/>
              <a:pathLst>
                <a:path h="5907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62848"/>
                  </a:lnTo>
                  <a:cubicBezTo>
                    <a:pt x="812800" y="496780"/>
                    <a:pt x="799321" y="529323"/>
                    <a:pt x="775327" y="553316"/>
                  </a:cubicBezTo>
                  <a:cubicBezTo>
                    <a:pt x="751333" y="577310"/>
                    <a:pt x="718791" y="590789"/>
                    <a:pt x="684859" y="590789"/>
                  </a:cubicBezTo>
                  <a:lnTo>
                    <a:pt x="127941" y="590789"/>
                  </a:lnTo>
                  <a:cubicBezTo>
                    <a:pt x="94009" y="590789"/>
                    <a:pt x="61467" y="577310"/>
                    <a:pt x="37473" y="553316"/>
                  </a:cubicBezTo>
                  <a:cubicBezTo>
                    <a:pt x="13479" y="529323"/>
                    <a:pt x="0" y="496780"/>
                    <a:pt x="0" y="4628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08673A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812800" cy="619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99"/>
                </a:lnSpc>
                <a:spcBef>
                  <a:spcPct val="0"/>
                </a:spcBef>
              </a:pPr>
              <a:r>
                <a:rPr lang="en-US" b="true" sz="2499" spc="-49" strike="noStrike" u="none">
                  <a:solidFill>
                    <a:srgbClr val="08673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Rider Bidding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747301" y="6130619"/>
            <a:ext cx="3086100" cy="2243153"/>
            <a:chOff x="0" y="0"/>
            <a:chExt cx="812800" cy="5907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590789"/>
            </a:xfrm>
            <a:custGeom>
              <a:avLst/>
              <a:gdLst/>
              <a:ahLst/>
              <a:cxnLst/>
              <a:rect r="r" b="b" t="t" l="l"/>
              <a:pathLst>
                <a:path h="5907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62848"/>
                  </a:lnTo>
                  <a:cubicBezTo>
                    <a:pt x="812800" y="496780"/>
                    <a:pt x="799321" y="529323"/>
                    <a:pt x="775327" y="553316"/>
                  </a:cubicBezTo>
                  <a:cubicBezTo>
                    <a:pt x="751333" y="577310"/>
                    <a:pt x="718791" y="590789"/>
                    <a:pt x="684859" y="590789"/>
                  </a:cubicBezTo>
                  <a:lnTo>
                    <a:pt x="127941" y="590789"/>
                  </a:lnTo>
                  <a:cubicBezTo>
                    <a:pt x="94009" y="590789"/>
                    <a:pt x="61467" y="577310"/>
                    <a:pt x="37473" y="553316"/>
                  </a:cubicBezTo>
                  <a:cubicBezTo>
                    <a:pt x="13479" y="529323"/>
                    <a:pt x="0" y="496780"/>
                    <a:pt x="0" y="4628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08673A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812800" cy="619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99"/>
                </a:lnSpc>
                <a:spcBef>
                  <a:spcPct val="0"/>
                </a:spcBef>
              </a:pPr>
              <a:r>
                <a:rPr lang="en-US" b="true" sz="2499" spc="-49" strike="noStrike" u="none">
                  <a:solidFill>
                    <a:srgbClr val="08673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Role based Access Control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052476" y="6130619"/>
            <a:ext cx="3086100" cy="2243153"/>
            <a:chOff x="0" y="0"/>
            <a:chExt cx="812800" cy="5907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590789"/>
            </a:xfrm>
            <a:custGeom>
              <a:avLst/>
              <a:gdLst/>
              <a:ahLst/>
              <a:cxnLst/>
              <a:rect r="r" b="b" t="t" l="l"/>
              <a:pathLst>
                <a:path h="5907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62848"/>
                  </a:lnTo>
                  <a:cubicBezTo>
                    <a:pt x="812800" y="496780"/>
                    <a:pt x="799321" y="529323"/>
                    <a:pt x="775327" y="553316"/>
                  </a:cubicBezTo>
                  <a:cubicBezTo>
                    <a:pt x="751333" y="577310"/>
                    <a:pt x="718791" y="590789"/>
                    <a:pt x="684859" y="590789"/>
                  </a:cubicBezTo>
                  <a:lnTo>
                    <a:pt x="127941" y="590789"/>
                  </a:lnTo>
                  <a:cubicBezTo>
                    <a:pt x="94009" y="590789"/>
                    <a:pt x="61467" y="577310"/>
                    <a:pt x="37473" y="553316"/>
                  </a:cubicBezTo>
                  <a:cubicBezTo>
                    <a:pt x="13479" y="529323"/>
                    <a:pt x="0" y="496780"/>
                    <a:pt x="0" y="4628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08673A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812800" cy="619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99"/>
                </a:lnSpc>
                <a:spcBef>
                  <a:spcPct val="0"/>
                </a:spcBef>
              </a:pPr>
              <a:r>
                <a:rPr lang="en-US" b="true" sz="2499" spc="-49" strike="noStrike" u="none">
                  <a:solidFill>
                    <a:srgbClr val="08673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Multi city and Franchise based Scalability.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778403" y="3601778"/>
            <a:ext cx="3086100" cy="2243153"/>
            <a:chOff x="0" y="0"/>
            <a:chExt cx="812800" cy="5907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590789"/>
            </a:xfrm>
            <a:custGeom>
              <a:avLst/>
              <a:gdLst/>
              <a:ahLst/>
              <a:cxnLst/>
              <a:rect r="r" b="b" t="t" l="l"/>
              <a:pathLst>
                <a:path h="5907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62848"/>
                  </a:lnTo>
                  <a:cubicBezTo>
                    <a:pt x="812800" y="496780"/>
                    <a:pt x="799321" y="529323"/>
                    <a:pt x="775327" y="553316"/>
                  </a:cubicBezTo>
                  <a:cubicBezTo>
                    <a:pt x="751333" y="577310"/>
                    <a:pt x="718791" y="590789"/>
                    <a:pt x="684859" y="590789"/>
                  </a:cubicBezTo>
                  <a:lnTo>
                    <a:pt x="127941" y="590789"/>
                  </a:lnTo>
                  <a:cubicBezTo>
                    <a:pt x="94009" y="590789"/>
                    <a:pt x="61467" y="577310"/>
                    <a:pt x="37473" y="553316"/>
                  </a:cubicBezTo>
                  <a:cubicBezTo>
                    <a:pt x="13479" y="529323"/>
                    <a:pt x="0" y="496780"/>
                    <a:pt x="0" y="4628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08673A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812800" cy="619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  <a:r>
                <a:rPr lang="en-US" b="true" sz="2499" spc="-49">
                  <a:solidFill>
                    <a:srgbClr val="08673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Offline POS Operations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983205" y="3601778"/>
            <a:ext cx="3086100" cy="2243153"/>
            <a:chOff x="0" y="0"/>
            <a:chExt cx="812800" cy="5907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590789"/>
            </a:xfrm>
            <a:custGeom>
              <a:avLst/>
              <a:gdLst/>
              <a:ahLst/>
              <a:cxnLst/>
              <a:rect r="r" b="b" t="t" l="l"/>
              <a:pathLst>
                <a:path h="5907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62848"/>
                  </a:lnTo>
                  <a:cubicBezTo>
                    <a:pt x="812800" y="496780"/>
                    <a:pt x="799321" y="529323"/>
                    <a:pt x="775327" y="553316"/>
                  </a:cubicBezTo>
                  <a:cubicBezTo>
                    <a:pt x="751333" y="577310"/>
                    <a:pt x="718791" y="590789"/>
                    <a:pt x="684859" y="590789"/>
                  </a:cubicBezTo>
                  <a:lnTo>
                    <a:pt x="127941" y="590789"/>
                  </a:lnTo>
                  <a:cubicBezTo>
                    <a:pt x="94009" y="590789"/>
                    <a:pt x="61467" y="577310"/>
                    <a:pt x="37473" y="553316"/>
                  </a:cubicBezTo>
                  <a:cubicBezTo>
                    <a:pt x="13479" y="529323"/>
                    <a:pt x="0" y="496780"/>
                    <a:pt x="0" y="4628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08673A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812800" cy="619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  <a:r>
                <a:rPr lang="en-US" b="true" sz="2499" spc="-49">
                  <a:solidFill>
                    <a:srgbClr val="08673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Controlled Product Publishing 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183605" y="3601778"/>
            <a:ext cx="3086100" cy="2243153"/>
            <a:chOff x="0" y="0"/>
            <a:chExt cx="812800" cy="59078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590789"/>
            </a:xfrm>
            <a:custGeom>
              <a:avLst/>
              <a:gdLst/>
              <a:ahLst/>
              <a:cxnLst/>
              <a:rect r="r" b="b" t="t" l="l"/>
              <a:pathLst>
                <a:path h="5907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62848"/>
                  </a:lnTo>
                  <a:cubicBezTo>
                    <a:pt x="812800" y="496780"/>
                    <a:pt x="799321" y="529323"/>
                    <a:pt x="775327" y="553316"/>
                  </a:cubicBezTo>
                  <a:cubicBezTo>
                    <a:pt x="751333" y="577310"/>
                    <a:pt x="718791" y="590789"/>
                    <a:pt x="684859" y="590789"/>
                  </a:cubicBezTo>
                  <a:lnTo>
                    <a:pt x="127941" y="590789"/>
                  </a:lnTo>
                  <a:cubicBezTo>
                    <a:pt x="94009" y="590789"/>
                    <a:pt x="61467" y="577310"/>
                    <a:pt x="37473" y="553316"/>
                  </a:cubicBezTo>
                  <a:cubicBezTo>
                    <a:pt x="13479" y="529323"/>
                    <a:pt x="0" y="496780"/>
                    <a:pt x="0" y="4628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08673A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812800" cy="619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99"/>
                </a:lnSpc>
                <a:spcBef>
                  <a:spcPct val="0"/>
                </a:spcBef>
              </a:pPr>
              <a:r>
                <a:rPr lang="en-US" sz="2499" spc="-49">
                  <a:solidFill>
                    <a:srgbClr val="08673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Order &amp; Delivery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28700" y="883920"/>
            <a:ext cx="7914907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BARQIBAZAR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208686" y="9124474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943228" y="2260177"/>
            <a:ext cx="10401545" cy="61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08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Objectives &amp; Core System Functions</a:t>
            </a:r>
          </a:p>
        </p:txBody>
      </p:sp>
      <p:sp>
        <p:nvSpPr>
          <p:cNvPr name="AutoShape 27" id="27"/>
          <p:cNvSpPr/>
          <p:nvPr/>
        </p:nvSpPr>
        <p:spPr>
          <a:xfrm>
            <a:off x="8745215" y="9220200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7478375" y="1870040"/>
            <a:ext cx="8416960" cy="841696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5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92513" y="4719638"/>
            <a:ext cx="9502974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08686" y="9124474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</a:t>
            </a:r>
          </a:p>
        </p:txBody>
      </p:sp>
      <p:sp>
        <p:nvSpPr>
          <p:cNvPr name="AutoShape 4" id="4"/>
          <p:cNvSpPr/>
          <p:nvPr/>
        </p:nvSpPr>
        <p:spPr>
          <a:xfrm>
            <a:off x="8745215" y="9220200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-7388260" y="6305604"/>
            <a:ext cx="8416960" cy="841696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73A"/>
            </a:solidFill>
            <a:ln w="38100" cap="sq">
              <a:solidFill>
                <a:srgbClr val="08673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82987" y="-7899615"/>
            <a:ext cx="8416960" cy="84169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5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883920"/>
            <a:ext cx="7914907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BARQIBAZAR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08686" y="9126855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47788" y="2211164"/>
            <a:ext cx="658999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Methodology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61906" y="3246882"/>
            <a:ext cx="12564187" cy="6171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621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 project followed the Waterfall Development Model.</a:t>
            </a:r>
          </a:p>
          <a:p>
            <a:pPr algn="l" marL="604519" indent="-302260" lvl="1">
              <a:lnSpc>
                <a:spcPts val="621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Requirements were gathered and finalized before development.</a:t>
            </a:r>
          </a:p>
          <a:p>
            <a:pPr algn="l" marL="604519" indent="-302260" lvl="1">
              <a:lnSpc>
                <a:spcPts val="621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System design was completed using UML diagrams.</a:t>
            </a:r>
          </a:p>
          <a:p>
            <a:pPr algn="l" marL="604519" indent="-302260" lvl="1">
              <a:lnSpc>
                <a:spcPts val="621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Implementation was carried out in well-defined phases.</a:t>
            </a:r>
          </a:p>
          <a:p>
            <a:pPr algn="l" marL="604519" indent="-302260" lvl="1">
              <a:lnSpc>
                <a:spcPts val="621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Core modules (POS, Portals) were developed first.</a:t>
            </a:r>
          </a:p>
          <a:p>
            <a:pPr algn="l" marL="604519" indent="-302260" lvl="1">
              <a:lnSpc>
                <a:spcPts val="621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Delivery and rider bidding modules were integrated later.</a:t>
            </a:r>
          </a:p>
          <a:p>
            <a:pPr algn="l" marL="604519" indent="-302260" lvl="1">
              <a:lnSpc>
                <a:spcPts val="621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Testing and validation were performed after each phase.</a:t>
            </a:r>
          </a:p>
          <a:p>
            <a:pPr algn="l">
              <a:lnSpc>
                <a:spcPts val="6215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8745215" y="9220200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-6872780" y="-5558095"/>
            <a:ext cx="8416960" cy="84169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7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09134" y="9817883"/>
            <a:ext cx="8416960" cy="841696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7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92513" y="4719638"/>
            <a:ext cx="9502974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Requirements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08686" y="9124474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</a:t>
            </a:r>
          </a:p>
        </p:txBody>
      </p:sp>
      <p:sp>
        <p:nvSpPr>
          <p:cNvPr name="AutoShape 4" id="4"/>
          <p:cNvSpPr/>
          <p:nvPr/>
        </p:nvSpPr>
        <p:spPr>
          <a:xfrm>
            <a:off x="8745215" y="9220200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-7388260" y="6305604"/>
            <a:ext cx="8416960" cy="841696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73A"/>
            </a:solidFill>
            <a:ln w="38100" cap="sq">
              <a:solidFill>
                <a:srgbClr val="08673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82987" y="-7899615"/>
            <a:ext cx="8416960" cy="84169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5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2378954"/>
            <a:ext cx="7914907" cy="5816271"/>
            <a:chOff x="0" y="0"/>
            <a:chExt cx="2084584" cy="15318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84584" cy="1531857"/>
            </a:xfrm>
            <a:custGeom>
              <a:avLst/>
              <a:gdLst/>
              <a:ahLst/>
              <a:cxnLst/>
              <a:rect r="r" b="b" t="t" l="l"/>
              <a:pathLst>
                <a:path h="1531857" w="2084584">
                  <a:moveTo>
                    <a:pt x="49885" y="0"/>
                  </a:moveTo>
                  <a:lnTo>
                    <a:pt x="2034699" y="0"/>
                  </a:lnTo>
                  <a:cubicBezTo>
                    <a:pt x="2062250" y="0"/>
                    <a:pt x="2084584" y="22334"/>
                    <a:pt x="2084584" y="49885"/>
                  </a:cubicBezTo>
                  <a:lnTo>
                    <a:pt x="2084584" y="1481972"/>
                  </a:lnTo>
                  <a:cubicBezTo>
                    <a:pt x="2084584" y="1509523"/>
                    <a:pt x="2062250" y="1531857"/>
                    <a:pt x="2034699" y="1531857"/>
                  </a:cubicBezTo>
                  <a:lnTo>
                    <a:pt x="49885" y="1531857"/>
                  </a:lnTo>
                  <a:cubicBezTo>
                    <a:pt x="22334" y="1531857"/>
                    <a:pt x="0" y="1509523"/>
                    <a:pt x="0" y="1481972"/>
                  </a:cubicBezTo>
                  <a:lnTo>
                    <a:pt x="0" y="49885"/>
                  </a:lnTo>
                  <a:cubicBezTo>
                    <a:pt x="0" y="22334"/>
                    <a:pt x="22334" y="0"/>
                    <a:pt x="49885" y="0"/>
                  </a:cubicBezTo>
                  <a:close/>
                </a:path>
              </a:pathLst>
            </a:custGeom>
            <a:ln w="38100" cap="rnd">
              <a:solidFill>
                <a:srgbClr val="08673A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2084584" cy="1493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2378954"/>
            <a:ext cx="8008567" cy="5816271"/>
            <a:chOff x="0" y="0"/>
            <a:chExt cx="2109252" cy="15318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9252" cy="1531857"/>
            </a:xfrm>
            <a:custGeom>
              <a:avLst/>
              <a:gdLst/>
              <a:ahLst/>
              <a:cxnLst/>
              <a:rect r="r" b="b" t="t" l="l"/>
              <a:pathLst>
                <a:path h="1531857" w="2109252">
                  <a:moveTo>
                    <a:pt x="49302" y="0"/>
                  </a:moveTo>
                  <a:lnTo>
                    <a:pt x="2059950" y="0"/>
                  </a:lnTo>
                  <a:cubicBezTo>
                    <a:pt x="2087179" y="0"/>
                    <a:pt x="2109252" y="22073"/>
                    <a:pt x="2109252" y="49302"/>
                  </a:cubicBezTo>
                  <a:lnTo>
                    <a:pt x="2109252" y="1482555"/>
                  </a:lnTo>
                  <a:cubicBezTo>
                    <a:pt x="2109252" y="1509784"/>
                    <a:pt x="2087179" y="1531857"/>
                    <a:pt x="2059950" y="1531857"/>
                  </a:cubicBezTo>
                  <a:lnTo>
                    <a:pt x="49302" y="1531857"/>
                  </a:lnTo>
                  <a:cubicBezTo>
                    <a:pt x="22073" y="1531857"/>
                    <a:pt x="0" y="1509784"/>
                    <a:pt x="0" y="1482555"/>
                  </a:cubicBezTo>
                  <a:lnTo>
                    <a:pt x="0" y="49302"/>
                  </a:lnTo>
                  <a:cubicBezTo>
                    <a:pt x="0" y="22073"/>
                    <a:pt x="22073" y="0"/>
                    <a:pt x="49302" y="0"/>
                  </a:cubicBezTo>
                  <a:close/>
                </a:path>
              </a:pathLst>
            </a:custGeom>
            <a:ln w="38100" cap="rnd">
              <a:solidFill>
                <a:srgbClr val="EF592B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38100"/>
              <a:ext cx="2109252" cy="1493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2744914"/>
            <a:ext cx="768748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08673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Functional Requirements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31550" y="2744914"/>
            <a:ext cx="768748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EF592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Non-Functional Requirements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883920"/>
            <a:ext cx="7914907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REQUIREMENTS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3666" y="3735032"/>
            <a:ext cx="7104974" cy="4460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5550" indent="-272775" lvl="1">
              <a:lnSpc>
                <a:spcPts val="3537"/>
              </a:lnSpc>
              <a:buFont typeface="Arial"/>
              <a:buChar char="•"/>
            </a:pPr>
            <a:r>
              <a:rPr lang="en-US" b="true" sz="2526">
                <a:solidFill>
                  <a:srgbClr val="0867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Role-based user authentication and login.</a:t>
            </a:r>
          </a:p>
          <a:p>
            <a:pPr algn="l" marL="545550" indent="-272775" lvl="1">
              <a:lnSpc>
                <a:spcPts val="3537"/>
              </a:lnSpc>
              <a:buFont typeface="Arial"/>
              <a:buChar char="•"/>
            </a:pPr>
            <a:r>
              <a:rPr lang="en-US" b="true" sz="2526">
                <a:solidFill>
                  <a:srgbClr val="0867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Offline POS support for product management and sales.</a:t>
            </a:r>
          </a:p>
          <a:p>
            <a:pPr algn="l" marL="545550" indent="-272775" lvl="1">
              <a:lnSpc>
                <a:spcPts val="3537"/>
              </a:lnSpc>
              <a:buFont typeface="Arial"/>
              <a:buChar char="•"/>
            </a:pPr>
            <a:r>
              <a:rPr lang="en-US" b="true" sz="2526">
                <a:solidFill>
                  <a:srgbClr val="0867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Product proposal submission and approval workflow.</a:t>
            </a:r>
          </a:p>
          <a:p>
            <a:pPr algn="l" marL="545550" indent="-272775" lvl="1">
              <a:lnSpc>
                <a:spcPts val="3537"/>
              </a:lnSpc>
              <a:buFont typeface="Arial"/>
              <a:buChar char="•"/>
            </a:pPr>
            <a:r>
              <a:rPr lang="en-US" b="true" sz="2526">
                <a:solidFill>
                  <a:srgbClr val="0867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Customer order placement with stock validation.</a:t>
            </a:r>
          </a:p>
          <a:p>
            <a:pPr algn="l" marL="545550" indent="-272775" lvl="1">
              <a:lnSpc>
                <a:spcPts val="3537"/>
              </a:lnSpc>
              <a:buFont typeface="Arial"/>
              <a:buChar char="•"/>
            </a:pPr>
            <a:r>
              <a:rPr lang="en-US" b="true" sz="2526">
                <a:solidFill>
                  <a:srgbClr val="0867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Rider bidding and delivery assignment.</a:t>
            </a:r>
          </a:p>
          <a:p>
            <a:pPr algn="l">
              <a:lnSpc>
                <a:spcPts val="353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413814" y="3735032"/>
            <a:ext cx="7322952" cy="311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5916" indent="-272958" lvl="1">
              <a:lnSpc>
                <a:spcPts val="3539"/>
              </a:lnSpc>
              <a:buFont typeface="Arial"/>
              <a:buChar char="•"/>
            </a:pPr>
            <a:r>
              <a:rPr lang="en-US" b="true" sz="2528">
                <a:solidFill>
                  <a:srgbClr val="EF59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Secure authentication and authorization mechanisms.</a:t>
            </a:r>
          </a:p>
          <a:p>
            <a:pPr algn="l" marL="545916" indent="-272958" lvl="1">
              <a:lnSpc>
                <a:spcPts val="3539"/>
              </a:lnSpc>
              <a:buFont typeface="Arial"/>
              <a:buChar char="•"/>
            </a:pPr>
            <a:r>
              <a:rPr lang="en-US" b="true" sz="2528">
                <a:solidFill>
                  <a:srgbClr val="EF59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System scalability for multi-city and franchise operations.</a:t>
            </a:r>
          </a:p>
          <a:p>
            <a:pPr algn="l" marL="545916" indent="-272958" lvl="1">
              <a:lnSpc>
                <a:spcPts val="3539"/>
              </a:lnSpc>
              <a:buFont typeface="Arial"/>
              <a:buChar char="•"/>
            </a:pPr>
            <a:r>
              <a:rPr lang="en-US" b="true" sz="2528">
                <a:solidFill>
                  <a:srgbClr val="EF59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Reliable data storage and consistency.</a:t>
            </a:r>
          </a:p>
          <a:p>
            <a:pPr algn="l" marL="545916" indent="-272958" lvl="1">
              <a:lnSpc>
                <a:spcPts val="3539"/>
              </a:lnSpc>
              <a:buFont typeface="Arial"/>
              <a:buChar char="•"/>
            </a:pPr>
            <a:r>
              <a:rPr lang="en-US" b="true" sz="2528">
                <a:solidFill>
                  <a:srgbClr val="EF59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Fast</a:t>
            </a:r>
            <a:r>
              <a:rPr lang="en-US" b="true" sz="2528">
                <a:solidFill>
                  <a:srgbClr val="EF59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and responsive system perfo</a:t>
            </a:r>
            <a:r>
              <a:rPr lang="en-US" b="true" sz="2528">
                <a:solidFill>
                  <a:srgbClr val="EF59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rmance.</a:t>
            </a:r>
          </a:p>
          <a:p>
            <a:pPr algn="l" marL="545916" indent="-272958" lvl="1">
              <a:lnSpc>
                <a:spcPts val="3539"/>
              </a:lnSpc>
              <a:buFont typeface="Arial"/>
              <a:buChar char="•"/>
            </a:pPr>
            <a:r>
              <a:rPr lang="en-US" b="true" sz="2528">
                <a:solidFill>
                  <a:srgbClr val="EF59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High ava</a:t>
            </a:r>
            <a:r>
              <a:rPr lang="en-US" b="true" sz="2528">
                <a:solidFill>
                  <a:srgbClr val="EF59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ilability and system reliability.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08686" y="9124474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12</a:t>
            </a:r>
          </a:p>
        </p:txBody>
      </p:sp>
      <p:sp>
        <p:nvSpPr>
          <p:cNvPr name="AutoShape 15" id="15"/>
          <p:cNvSpPr/>
          <p:nvPr/>
        </p:nvSpPr>
        <p:spPr>
          <a:xfrm>
            <a:off x="8745215" y="9220200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7152567" y="-5323943"/>
            <a:ext cx="8416960" cy="841696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5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1681" y="9614952"/>
            <a:ext cx="8416960" cy="841696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7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92513" y="4719638"/>
            <a:ext cx="9502974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Architecture &amp; Design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08686" y="9124474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13</a:t>
            </a:r>
          </a:p>
        </p:txBody>
      </p:sp>
      <p:sp>
        <p:nvSpPr>
          <p:cNvPr name="AutoShape 4" id="4"/>
          <p:cNvSpPr/>
          <p:nvPr/>
        </p:nvSpPr>
        <p:spPr>
          <a:xfrm>
            <a:off x="8745215" y="9220200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-7388260" y="6305604"/>
            <a:ext cx="8416960" cy="841696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73A"/>
            </a:solidFill>
            <a:ln w="38100" cap="sq">
              <a:solidFill>
                <a:srgbClr val="08673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82987" y="-7899615"/>
            <a:ext cx="8416960" cy="84169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5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883920"/>
            <a:ext cx="7914907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BARQIBAZAR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08686" y="9126855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14</a:t>
            </a:r>
          </a:p>
        </p:txBody>
      </p:sp>
      <p:sp>
        <p:nvSpPr>
          <p:cNvPr name="AutoShape 5" id="5"/>
          <p:cNvSpPr/>
          <p:nvPr/>
        </p:nvSpPr>
        <p:spPr>
          <a:xfrm>
            <a:off x="8745215" y="9220200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-7683385" y="498635"/>
            <a:ext cx="8416960" cy="841696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5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02958" y="6130619"/>
            <a:ext cx="3086100" cy="2243153"/>
            <a:chOff x="0" y="0"/>
            <a:chExt cx="812800" cy="5907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590789"/>
            </a:xfrm>
            <a:custGeom>
              <a:avLst/>
              <a:gdLst/>
              <a:ahLst/>
              <a:cxnLst/>
              <a:rect r="r" b="b" t="t" l="l"/>
              <a:pathLst>
                <a:path h="5907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62848"/>
                  </a:lnTo>
                  <a:cubicBezTo>
                    <a:pt x="812800" y="496780"/>
                    <a:pt x="799321" y="529323"/>
                    <a:pt x="775327" y="553316"/>
                  </a:cubicBezTo>
                  <a:cubicBezTo>
                    <a:pt x="751333" y="577310"/>
                    <a:pt x="718791" y="590789"/>
                    <a:pt x="684859" y="590789"/>
                  </a:cubicBezTo>
                  <a:lnTo>
                    <a:pt x="127941" y="590789"/>
                  </a:lnTo>
                  <a:cubicBezTo>
                    <a:pt x="94009" y="590789"/>
                    <a:pt x="61467" y="577310"/>
                    <a:pt x="37473" y="553316"/>
                  </a:cubicBezTo>
                  <a:cubicBezTo>
                    <a:pt x="13479" y="529323"/>
                    <a:pt x="0" y="496780"/>
                    <a:pt x="0" y="4628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EF592B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812800" cy="543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  <a:r>
                <a:rPr lang="en-US" b="true" sz="2499" spc="-49">
                  <a:solidFill>
                    <a:srgbClr val="EF592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Cloud Deployment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798155" y="3601778"/>
            <a:ext cx="3086100" cy="2243153"/>
            <a:chOff x="0" y="0"/>
            <a:chExt cx="812800" cy="5907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590789"/>
            </a:xfrm>
            <a:custGeom>
              <a:avLst/>
              <a:gdLst/>
              <a:ahLst/>
              <a:cxnLst/>
              <a:rect r="r" b="b" t="t" l="l"/>
              <a:pathLst>
                <a:path h="5907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62848"/>
                  </a:lnTo>
                  <a:cubicBezTo>
                    <a:pt x="812800" y="496780"/>
                    <a:pt x="799321" y="529323"/>
                    <a:pt x="775327" y="553316"/>
                  </a:cubicBezTo>
                  <a:cubicBezTo>
                    <a:pt x="751333" y="577310"/>
                    <a:pt x="718791" y="590789"/>
                    <a:pt x="684859" y="590789"/>
                  </a:cubicBezTo>
                  <a:lnTo>
                    <a:pt x="127941" y="590789"/>
                  </a:lnTo>
                  <a:cubicBezTo>
                    <a:pt x="94009" y="590789"/>
                    <a:pt x="61467" y="577310"/>
                    <a:pt x="37473" y="553316"/>
                  </a:cubicBezTo>
                  <a:cubicBezTo>
                    <a:pt x="13479" y="529323"/>
                    <a:pt x="0" y="496780"/>
                    <a:pt x="0" y="4628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EF592B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812800" cy="619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  <a:r>
                <a:rPr lang="en-US" b="true" sz="2499" spc="-49">
                  <a:solidFill>
                    <a:srgbClr val="EF592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Service Oriented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002958" y="3601778"/>
            <a:ext cx="3086100" cy="2243153"/>
            <a:chOff x="0" y="0"/>
            <a:chExt cx="812800" cy="5907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590789"/>
            </a:xfrm>
            <a:custGeom>
              <a:avLst/>
              <a:gdLst/>
              <a:ahLst/>
              <a:cxnLst/>
              <a:rect r="r" b="b" t="t" l="l"/>
              <a:pathLst>
                <a:path h="5907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62848"/>
                  </a:lnTo>
                  <a:cubicBezTo>
                    <a:pt x="812800" y="496780"/>
                    <a:pt x="799321" y="529323"/>
                    <a:pt x="775327" y="553316"/>
                  </a:cubicBezTo>
                  <a:cubicBezTo>
                    <a:pt x="751333" y="577310"/>
                    <a:pt x="718791" y="590789"/>
                    <a:pt x="684859" y="590789"/>
                  </a:cubicBezTo>
                  <a:lnTo>
                    <a:pt x="127941" y="590789"/>
                  </a:lnTo>
                  <a:cubicBezTo>
                    <a:pt x="94009" y="590789"/>
                    <a:pt x="61467" y="577310"/>
                    <a:pt x="37473" y="553316"/>
                  </a:cubicBezTo>
                  <a:cubicBezTo>
                    <a:pt x="13479" y="529323"/>
                    <a:pt x="0" y="496780"/>
                    <a:pt x="0" y="4628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EF592B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812800" cy="619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  <a:r>
                <a:rPr lang="en-US" sz="2499" spc="-49">
                  <a:solidFill>
                    <a:srgbClr val="EF592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Role base Access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798155" y="6130619"/>
            <a:ext cx="3086100" cy="2243153"/>
            <a:chOff x="0" y="0"/>
            <a:chExt cx="812800" cy="5907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590789"/>
            </a:xfrm>
            <a:custGeom>
              <a:avLst/>
              <a:gdLst/>
              <a:ahLst/>
              <a:cxnLst/>
              <a:rect r="r" b="b" t="t" l="l"/>
              <a:pathLst>
                <a:path h="59078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62848"/>
                  </a:lnTo>
                  <a:cubicBezTo>
                    <a:pt x="812800" y="496780"/>
                    <a:pt x="799321" y="529323"/>
                    <a:pt x="775327" y="553316"/>
                  </a:cubicBezTo>
                  <a:cubicBezTo>
                    <a:pt x="751333" y="577310"/>
                    <a:pt x="718791" y="590789"/>
                    <a:pt x="684859" y="590789"/>
                  </a:cubicBezTo>
                  <a:lnTo>
                    <a:pt x="127941" y="590789"/>
                  </a:lnTo>
                  <a:cubicBezTo>
                    <a:pt x="94009" y="590789"/>
                    <a:pt x="61467" y="577310"/>
                    <a:pt x="37473" y="553316"/>
                  </a:cubicBezTo>
                  <a:cubicBezTo>
                    <a:pt x="13479" y="529323"/>
                    <a:pt x="0" y="496780"/>
                    <a:pt x="0" y="4628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EF592B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812800" cy="619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99"/>
                </a:lnSpc>
                <a:spcBef>
                  <a:spcPct val="0"/>
                </a:spcBef>
              </a:pPr>
              <a:r>
                <a:rPr lang="en-US" sz="2499" spc="-49">
                  <a:solidFill>
                    <a:srgbClr val="EF592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Relational DB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943228" y="2260177"/>
            <a:ext cx="1040154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6"/>
              </a:lnSpc>
            </a:pPr>
            <a:r>
              <a:rPr lang="en-US" sz="408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Architecture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745215" y="8444767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23289" y="345233"/>
            <a:ext cx="9272371" cy="8913067"/>
          </a:xfrm>
          <a:custGeom>
            <a:avLst/>
            <a:gdLst/>
            <a:ahLst/>
            <a:cxnLst/>
            <a:rect r="r" b="b" t="t" l="l"/>
            <a:pathLst>
              <a:path h="8913067" w="9272371">
                <a:moveTo>
                  <a:pt x="0" y="0"/>
                </a:moveTo>
                <a:lnTo>
                  <a:pt x="9272371" y="0"/>
                </a:lnTo>
                <a:lnTo>
                  <a:pt x="9272371" y="8913067"/>
                </a:lnTo>
                <a:lnTo>
                  <a:pt x="0" y="89130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83920"/>
            <a:ext cx="7914907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 CASE DIAGRAM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08686" y="9126855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6508" y="3192767"/>
            <a:ext cx="7818708" cy="296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Shows actors and roles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Cov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ers login and product management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cludes product proposal approval flow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Shows order placement and tracking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Represents rider bidding and assignment</a:t>
            </a:r>
          </a:p>
          <a:p>
            <a:pPr algn="l">
              <a:lnSpc>
                <a:spcPts val="391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21681" y="9614952"/>
            <a:ext cx="8416960" cy="84169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7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7855096" y="-4324895"/>
            <a:ext cx="8416960" cy="841696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5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745215" y="8444767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1681" y="9614952"/>
            <a:ext cx="8416960" cy="841696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73A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7855096" y="-4324895"/>
            <a:ext cx="8416960" cy="841696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5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643592" y="1858876"/>
            <a:ext cx="6090401" cy="6585891"/>
          </a:xfrm>
          <a:custGeom>
            <a:avLst/>
            <a:gdLst/>
            <a:ahLst/>
            <a:cxnLst/>
            <a:rect r="r" b="b" t="t" l="l"/>
            <a:pathLst>
              <a:path h="6585891" w="6090401">
                <a:moveTo>
                  <a:pt x="0" y="0"/>
                </a:moveTo>
                <a:lnTo>
                  <a:pt x="6090401" y="0"/>
                </a:lnTo>
                <a:lnTo>
                  <a:pt x="6090401" y="6585891"/>
                </a:lnTo>
                <a:lnTo>
                  <a:pt x="0" y="65858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883920"/>
            <a:ext cx="7914907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ACTIVITY DIAGRAM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30122" y="3142393"/>
            <a:ext cx="2355456" cy="395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  <a:spcBef>
                <a:spcPct val="0"/>
              </a:spcBef>
            </a:pPr>
            <a:r>
              <a:rPr lang="en-US" b="true" sz="2967" spc="17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Login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08686" y="9126855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5292" y="3634806"/>
            <a:ext cx="7818708" cy="296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User enters username 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an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 password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System validates credentials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If 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credentials are invalid, an error is shown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If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credentials are valid, login is successful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rocess ends after authentication result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745215" y="8444767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1681" y="9614952"/>
            <a:ext cx="8416960" cy="841696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73A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7855096" y="-4324895"/>
            <a:ext cx="8416960" cy="841696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5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690843" y="1211580"/>
            <a:ext cx="6308725" cy="8046720"/>
          </a:xfrm>
          <a:custGeom>
            <a:avLst/>
            <a:gdLst/>
            <a:ahLst/>
            <a:cxnLst/>
            <a:rect r="r" b="b" t="t" l="l"/>
            <a:pathLst>
              <a:path h="8046720" w="6308725">
                <a:moveTo>
                  <a:pt x="0" y="0"/>
                </a:moveTo>
                <a:lnTo>
                  <a:pt x="6308725" y="0"/>
                </a:lnTo>
                <a:lnTo>
                  <a:pt x="6308725" y="8046720"/>
                </a:lnTo>
                <a:lnTo>
                  <a:pt x="0" y="8046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47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883920"/>
            <a:ext cx="7914907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ACTIVITY DIAGRAM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08686" y="9126855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61900" y="3131185"/>
            <a:ext cx="9379721" cy="395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Store Admin opens the POS product module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Chooses to add or update 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 product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Enters or mo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difies product details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System validates product information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If 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data is invalid, an error is shown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If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valid, product data is saved successfully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Syst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em displays a success confirmation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562234" y="2626465"/>
            <a:ext cx="5555533" cy="395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  <a:spcBef>
                <a:spcPct val="0"/>
              </a:spcBef>
            </a:pPr>
            <a:r>
              <a:rPr lang="en-US" b="true" sz="2967" spc="17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POS Product Management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745215" y="8444767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1681" y="9614952"/>
            <a:ext cx="8416960" cy="841696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73A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7855096" y="-4324895"/>
            <a:ext cx="8416960" cy="841696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5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952921" y="845820"/>
            <a:ext cx="4030163" cy="9005952"/>
          </a:xfrm>
          <a:custGeom>
            <a:avLst/>
            <a:gdLst/>
            <a:ahLst/>
            <a:cxnLst/>
            <a:rect r="r" b="b" t="t" l="l"/>
            <a:pathLst>
              <a:path h="9005952" w="4030163">
                <a:moveTo>
                  <a:pt x="0" y="0"/>
                </a:moveTo>
                <a:lnTo>
                  <a:pt x="4030164" y="0"/>
                </a:lnTo>
                <a:lnTo>
                  <a:pt x="4030164" y="9005952"/>
                </a:lnTo>
                <a:lnTo>
                  <a:pt x="0" y="90059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883920"/>
            <a:ext cx="7914907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ACTIVITY DIAGRAM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08686" y="9126855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9509" y="3088831"/>
            <a:ext cx="10753412" cy="445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Store Admin selects a product and e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nters proposal 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details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Product proposal is submitted and validated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If 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data is invalid, a validation error is shown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V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alid proposals are saved as pending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Franchis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 Admin reviews the proposal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Proposal is approved or rejected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Approved products are published and go live on the marketplace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552394" y="2595244"/>
            <a:ext cx="5555533" cy="395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  <a:spcBef>
                <a:spcPct val="0"/>
              </a:spcBef>
            </a:pPr>
            <a:r>
              <a:rPr lang="en-US" b="true" sz="2967" spc="17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Proposal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745215" y="8444767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1681" y="9614952"/>
            <a:ext cx="8416960" cy="841696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73A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7855096" y="-4324895"/>
            <a:ext cx="8416960" cy="841696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5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426795" y="845820"/>
            <a:ext cx="5832505" cy="8572500"/>
          </a:xfrm>
          <a:custGeom>
            <a:avLst/>
            <a:gdLst/>
            <a:ahLst/>
            <a:cxnLst/>
            <a:rect r="r" b="b" t="t" l="l"/>
            <a:pathLst>
              <a:path h="8572500" w="5832505">
                <a:moveTo>
                  <a:pt x="0" y="0"/>
                </a:moveTo>
                <a:lnTo>
                  <a:pt x="5832505" y="0"/>
                </a:lnTo>
                <a:lnTo>
                  <a:pt x="5832505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883920"/>
            <a:ext cx="7914907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ACTIVITY DIAGRAM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08686" y="9126855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9509" y="3088831"/>
            <a:ext cx="10753412" cy="395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Super Admin opens Rider Management module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Views and selec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ts a rider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Chooses an 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action (enable, disable, or restrict)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System validates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 action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If invalid, an error message is shown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If v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alid, rider status is upd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at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ed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Rider access is updated city-wise and confirmed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552394" y="2548414"/>
            <a:ext cx="5555533" cy="395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  <a:spcBef>
                <a:spcPct val="0"/>
              </a:spcBef>
            </a:pPr>
            <a:r>
              <a:rPr lang="en-US" b="true" sz="2967" spc="17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Rider Management 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92513" y="4295775"/>
            <a:ext cx="9502974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Implementation, </a:t>
            </a:r>
          </a:p>
          <a:p>
            <a:pPr algn="ctr">
              <a:lnSpc>
                <a:spcPts val="6719"/>
              </a:lnSpc>
            </a:pPr>
            <a:r>
              <a:rPr lang="en-US" sz="5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Testing &amp; Validation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08686" y="9124474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</a:t>
            </a:r>
          </a:p>
        </p:txBody>
      </p:sp>
      <p:sp>
        <p:nvSpPr>
          <p:cNvPr name="AutoShape 4" id="4"/>
          <p:cNvSpPr/>
          <p:nvPr/>
        </p:nvSpPr>
        <p:spPr>
          <a:xfrm>
            <a:off x="8745215" y="9220200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-7388260" y="6305604"/>
            <a:ext cx="8416960" cy="841696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73A"/>
            </a:solidFill>
            <a:ln w="38100" cap="sq">
              <a:solidFill>
                <a:srgbClr val="08673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82987" y="-7899615"/>
            <a:ext cx="8416960" cy="84169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5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883920"/>
            <a:ext cx="7914907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BARQIBAZAR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08686" y="9126855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62119" y="2688664"/>
            <a:ext cx="1116376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Implementation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61906" y="4045890"/>
            <a:ext cx="12564187" cy="3691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System implemented using a service-oriented architecture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Core modules: POS, product approval, orders, and delivery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Role-ba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sed dashboards developed for each user type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Fu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nctional testing performed on all major workflows</a:t>
            </a:r>
          </a:p>
          <a:p>
            <a:pPr algn="l" marL="604519" indent="-302260" lvl="1">
              <a:lnSpc>
                <a:spcPts val="57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Integration testing ensured smooth module interaction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V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alidation of login, POS sales, orders, and delivery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8745215" y="9220200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9394099" y="9601723"/>
            <a:ext cx="8416960" cy="84169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5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883920"/>
            <a:ext cx="7914907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BARQIBAZAR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08686" y="9126855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62119" y="2688664"/>
            <a:ext cx="1116376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Testing &amp; Validation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44088" y="3360090"/>
            <a:ext cx="14397394" cy="572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7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Unit Testing – individual modules like login, POS, and order functions</a:t>
            </a:r>
          </a:p>
          <a:p>
            <a:pPr algn="l" marL="604519" indent="-302260" lvl="1">
              <a:lnSpc>
                <a:spcPts val="57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Integration Testing – interaction between POS, orders, and delivery modules</a:t>
            </a:r>
          </a:p>
          <a:p>
            <a:pPr algn="l" marL="604519" indent="-302260" lvl="1">
              <a:lnSpc>
                <a:spcPts val="57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Fu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nctional Testing – validation of core workflows (login, product, orders)</a:t>
            </a:r>
          </a:p>
          <a:p>
            <a:pPr algn="l" marL="604519" indent="-302260" lvl="1">
              <a:lnSpc>
                <a:spcPts val="57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System Testing – end-to-end system behavior</a:t>
            </a:r>
          </a:p>
          <a:p>
            <a:pPr algn="l" marL="604519" indent="-302260" lvl="1">
              <a:lnSpc>
                <a:spcPts val="57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Performance Testing – response time and stability checks</a:t>
            </a:r>
          </a:p>
          <a:p>
            <a:pPr algn="l" marL="604519" indent="-302260" lvl="1">
              <a:lnSpc>
                <a:spcPts val="57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Security Testing – role-based access and authentication</a:t>
            </a:r>
          </a:p>
          <a:p>
            <a:pPr algn="l" marL="604519" indent="-302260" lvl="1">
              <a:lnSpc>
                <a:spcPts val="57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User Acceptance 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Tes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ting (UAT) – re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al-user validation in deployed environment</a:t>
            </a:r>
          </a:p>
          <a:p>
            <a:pPr algn="l">
              <a:lnSpc>
                <a:spcPts val="5739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8745215" y="9220200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9394099" y="9601723"/>
            <a:ext cx="8416960" cy="84169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5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92513" y="4295775"/>
            <a:ext cx="9502974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Real-World Deployment, Results &amp; Future 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08686" y="9124474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23</a:t>
            </a:r>
          </a:p>
        </p:txBody>
      </p:sp>
      <p:sp>
        <p:nvSpPr>
          <p:cNvPr name="AutoShape 4" id="4"/>
          <p:cNvSpPr/>
          <p:nvPr/>
        </p:nvSpPr>
        <p:spPr>
          <a:xfrm>
            <a:off x="8745215" y="9220200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-7388260" y="6305604"/>
            <a:ext cx="8416960" cy="841696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73A"/>
            </a:solidFill>
            <a:ln w="38100" cap="sq">
              <a:solidFill>
                <a:srgbClr val="08673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82987" y="-7899615"/>
            <a:ext cx="8416960" cy="84169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5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883920"/>
            <a:ext cx="7914907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BARQIBAZAR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08686" y="9126855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62119" y="2435846"/>
            <a:ext cx="1116376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Real-World Deployment &amp; Results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62119" y="3871748"/>
            <a:ext cx="12564187" cy="2827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76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POS system deployed in a real clinic and operational since last year</a:t>
            </a:r>
          </a:p>
          <a:p>
            <a:pPr algn="l" marL="604519" indent="-302260" lvl="1">
              <a:lnSpc>
                <a:spcPts val="576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Syst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em running on real transactional and inventory data</a:t>
            </a:r>
          </a:p>
          <a:p>
            <a:pPr algn="l" marL="604519" indent="-302260" lvl="1">
              <a:lnSpc>
                <a:spcPts val="576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Improv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ed sales tracking and operational efficiency</a:t>
            </a:r>
          </a:p>
          <a:p>
            <a:pPr algn="l" marL="604519" indent="-302260" lvl="1">
              <a:lnSpc>
                <a:spcPts val="576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Validated system stability in real usage</a:t>
            </a:r>
          </a:p>
        </p:txBody>
      </p:sp>
      <p:sp>
        <p:nvSpPr>
          <p:cNvPr name="AutoShape 7" id="7"/>
          <p:cNvSpPr/>
          <p:nvPr/>
        </p:nvSpPr>
        <p:spPr>
          <a:xfrm>
            <a:off x="8745215" y="9220200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21681" y="9614952"/>
            <a:ext cx="8416960" cy="84169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7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43607" y="-7790344"/>
            <a:ext cx="8416960" cy="841696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67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883920"/>
            <a:ext cx="7914907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BARQIBAZAR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08686" y="9126855"/>
            <a:ext cx="305061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62119" y="2915187"/>
            <a:ext cx="1116376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10798" y="3877996"/>
            <a:ext cx="11863974" cy="499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76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Integration of adva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nced analytics and reporting for sales and performance insights</a:t>
            </a:r>
          </a:p>
          <a:p>
            <a:pPr algn="l" marL="604519" indent="-302260" lvl="1">
              <a:lnSpc>
                <a:spcPts val="576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Development of 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mobile applications for customers and riders</a:t>
            </a:r>
          </a:p>
          <a:p>
            <a:pPr algn="l" marL="604519" indent="-302260" lvl="1">
              <a:lnSpc>
                <a:spcPts val="576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Improvement</a:t>
            </a: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of digital payment gateways and wallet enhancements</a:t>
            </a:r>
          </a:p>
          <a:p>
            <a:pPr algn="l" marL="604519" indent="-302260" lvl="1">
              <a:lnSpc>
                <a:spcPts val="576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Automation of rider assignment and delivery optimization</a:t>
            </a:r>
          </a:p>
          <a:p>
            <a:pPr algn="l">
              <a:lnSpc>
                <a:spcPts val="5767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8745215" y="9220200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7259300" y="436195"/>
            <a:ext cx="8416960" cy="84169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5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86547" y="5602268"/>
            <a:ext cx="7914907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600" spc="-72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Thank Your for Listening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36889" y="4465617"/>
            <a:ext cx="1161422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8673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</a:t>
            </a:r>
            <a:r>
              <a:rPr lang="en-US" sz="8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8000">
                <a:solidFill>
                  <a:srgbClr val="EF592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End</a:t>
            </a:r>
          </a:p>
        </p:txBody>
      </p:sp>
      <p:sp>
        <p:nvSpPr>
          <p:cNvPr name="AutoShape 4" id="4"/>
          <p:cNvSpPr/>
          <p:nvPr/>
        </p:nvSpPr>
        <p:spPr>
          <a:xfrm>
            <a:off x="8745215" y="9220200"/>
            <a:ext cx="797570" cy="0"/>
          </a:xfrm>
          <a:prstGeom prst="line">
            <a:avLst/>
          </a:prstGeom>
          <a:ln cap="flat" w="76200">
            <a:solidFill>
              <a:srgbClr val="EF592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DAG_zV991fE</dc:identifier>
  <dcterms:modified xsi:type="dcterms:W3CDTF">2011-08-01T06:04:30Z</dcterms:modified>
  <cp:revision>1</cp:revision>
  <dc:title>BarqiBazar FYP External Presentation</dc:title>
</cp:coreProperties>
</file>